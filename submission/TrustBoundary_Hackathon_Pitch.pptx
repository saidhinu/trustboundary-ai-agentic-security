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84048"/>
            <a:ext cx="73152" cy="274320"/>
          </a:xfrm>
          <a:prstGeom prst="rect">
            <a:avLst/>
          </a:prstGeom>
          <a:solidFill>
            <a:srgbClr val="39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365760"/>
            <a:ext cx="640080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39D9B0"/>
                </a:solidFill>
                <a:latin typeface="Aptos"/>
              </a:defRPr>
            </a:pPr>
            <a:r>
              <a:t>TRUSTBOUNDARY /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93192"/>
            <a:ext cx="114300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r">
              <a:spcAft>
                <a:spcPts val="100"/>
              </a:spcAft>
              <a:defRPr sz="1000" b="1">
                <a:solidFill>
                  <a:srgbClr val="9BB0C8"/>
                </a:solidFill>
                <a:latin typeface="Aptos"/>
              </a:defRPr>
            </a:pPr>
            <a:r>
              <a:t>01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14400"/>
            <a:ext cx="11064240" cy="6400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2900" b="1">
                <a:solidFill>
                  <a:srgbClr val="EEF7FF"/>
                </a:solidFill>
                <a:latin typeface="Aptos"/>
              </a:defRPr>
            </a:pPr>
            <a:r>
              <a:t>Enterprise agents can act. Can they be trusted?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627632"/>
            <a:ext cx="10881360" cy="53035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300" b="0">
                <a:solidFill>
                  <a:srgbClr val="9BB0C8"/>
                </a:solidFill>
                <a:latin typeface="Aptos"/>
              </a:defRPr>
            </a:pPr>
            <a:r>
              <a:t>Prompt Injection Firewall · Problem Statement #2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7315"/>
          </a:xfrm>
          <a:prstGeom prst="rect">
            <a:avLst/>
          </a:prstGeom>
          <a:solidFill>
            <a:srgbClr val="30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6583680"/>
            <a:ext cx="7315200" cy="1828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800" b="0">
                <a:solidFill>
                  <a:srgbClr val="9BB0C8"/>
                </a:solidFill>
                <a:latin typeface="Aptos"/>
              </a:defRPr>
            </a:pPr>
            <a:r>
              <a:t>ET × ACCENTURE AI HACKATHON 2026 · AGENTIC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583680"/>
            <a:ext cx="3200400" cy="1828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9BB0C8"/>
                </a:solidFill>
                <a:latin typeface="Aptos"/>
              </a:defRPr>
            </a:pPr>
            <a:r>
              <a:t>v1.4 · F3–D1 · SYNTHETIC SANDBOX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10881360" cy="3200400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9144000" cy="76809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4600" b="1">
                <a:solidFill>
                  <a:srgbClr val="EEF7FF"/>
                </a:solidFill>
                <a:latin typeface="Aptos"/>
              </a:defRPr>
            </a:pPr>
            <a:r>
              <a:t>TRUSTBOUNDARY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974336"/>
            <a:ext cx="9144000" cy="34747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500" b="0">
                <a:solidFill>
                  <a:srgbClr val="9BB0C8"/>
                </a:solidFill>
                <a:latin typeface="Aptos"/>
              </a:defRPr>
            </a:pPr>
            <a:r>
              <a:t>Participant: Dhinesh Babu Venkatesan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560320"/>
            <a:ext cx="914400" cy="75895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4600" b="1">
                <a:solidFill>
                  <a:srgbClr val="39D9B0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611880"/>
            <a:ext cx="9144000" cy="420624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900" b="1">
                <a:solidFill>
                  <a:srgbClr val="39D9B0"/>
                </a:solidFill>
                <a:latin typeface="Aptos"/>
              </a:defRPr>
            </a:pPr>
            <a:r>
              <a:t>THE AGENTIC SECURITY CONTROL PLANE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251960"/>
            <a:ext cx="9692640" cy="66751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700" b="0">
                <a:solidFill>
                  <a:srgbClr val="9BB0C8"/>
                </a:solidFill>
                <a:latin typeface="Aptos"/>
              </a:defRPr>
            </a:pPr>
            <a:r>
              <a:t>Detect hostile instructions · Contain unauthorized tool actions · Measure true task utility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84048"/>
            <a:ext cx="73152" cy="274320"/>
          </a:xfrm>
          <a:prstGeom prst="rect">
            <a:avLst/>
          </a:prstGeom>
          <a:solidFill>
            <a:srgbClr val="39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365760"/>
            <a:ext cx="640080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39D9B0"/>
                </a:solidFill>
                <a:latin typeface="Aptos"/>
              </a:defRPr>
            </a:pPr>
            <a:r>
              <a:t>TRUSTBOUNDARY /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93192"/>
            <a:ext cx="114300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r">
              <a:spcAft>
                <a:spcPts val="100"/>
              </a:spcAft>
              <a:defRPr sz="1000" b="1">
                <a:solidFill>
                  <a:srgbClr val="9BB0C8"/>
                </a:solidFill>
                <a:latin typeface="Aptos"/>
              </a:defRPr>
            </a:pPr>
            <a: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14400"/>
            <a:ext cx="11064240" cy="6400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2900" b="1">
                <a:solidFill>
                  <a:srgbClr val="EEF7FF"/>
                </a:solidFill>
                <a:latin typeface="Aptos"/>
              </a:defRPr>
            </a:pPr>
            <a:r>
              <a:t>Prompt injection becomes business risk when AI can 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627632"/>
            <a:ext cx="10881360" cy="53035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300" b="0">
                <a:solidFill>
                  <a:srgbClr val="9BB0C8"/>
                </a:solidFill>
                <a:latin typeface="Aptos"/>
              </a:defRPr>
            </a:pPr>
            <a:r>
              <a:t>An email, retrieved page or tool response may contain a forged high-priority instruction.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7315"/>
          </a:xfrm>
          <a:prstGeom prst="rect">
            <a:avLst/>
          </a:prstGeom>
          <a:solidFill>
            <a:srgbClr val="30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6583680"/>
            <a:ext cx="7315200" cy="1828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800" b="0">
                <a:solidFill>
                  <a:srgbClr val="9BB0C8"/>
                </a:solidFill>
                <a:latin typeface="Aptos"/>
              </a:defRPr>
            </a:pPr>
            <a:r>
              <a:t>ET × ACCENTURE AI HACKATHON 2026 · AGENTIC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583680"/>
            <a:ext cx="3200400" cy="1828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9BB0C8"/>
                </a:solidFill>
                <a:latin typeface="Aptos"/>
              </a:defRPr>
            </a:pPr>
            <a:r>
              <a:t>v1.4 · F3–D1 · SYNTHETIC SANDBOX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23160"/>
            <a:ext cx="3246120" cy="2651760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06624"/>
            <a:ext cx="2743200" cy="27432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39D9B0"/>
                </a:solidFill>
                <a:latin typeface="Aptos"/>
              </a:defRPr>
            </a:pPr>
            <a:r>
              <a:t>01 / ATTACK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63824"/>
            <a:ext cx="2834640" cy="54864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2100" b="1">
                <a:solidFill>
                  <a:srgbClr val="EEF7FF"/>
                </a:solidFill>
                <a:latin typeface="Aptos"/>
              </a:defRPr>
            </a:pPr>
            <a:r>
              <a:t>Untrusted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77056"/>
            <a:ext cx="2816352" cy="8686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500" b="0">
                <a:solidFill>
                  <a:srgbClr val="9BB0C8"/>
                </a:solidFill>
                <a:latin typeface="Aptos"/>
              </a:defRPr>
            </a:pPr>
            <a:r>
              <a:t>Merchant email hides a role override or encoded instruction.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62272" y="2423160"/>
            <a:ext cx="3246120" cy="2651760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4" y="2706624"/>
            <a:ext cx="2743200" cy="27432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39D9B0"/>
                </a:solidFill>
                <a:latin typeface="Aptos"/>
              </a:defRPr>
            </a:pPr>
            <a:r>
              <a:t>02 / ESCALATION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3163824"/>
            <a:ext cx="2834640" cy="54864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2100" b="1">
                <a:solidFill>
                  <a:srgbClr val="EEF7FF"/>
                </a:solidFill>
                <a:latin typeface="Aptos"/>
              </a:defRPr>
            </a:pPr>
            <a:r>
              <a:t>Tool manipulation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3877056"/>
            <a:ext cx="2816352" cy="8686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500" b="0">
                <a:solidFill>
                  <a:srgbClr val="9BB0C8"/>
                </a:solidFill>
                <a:latin typeface="Aptos"/>
              </a:defRPr>
            </a:pPr>
            <a:r>
              <a:t>Agent is pushed toward refund, secret or outbound-message tool.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5" y="2423160"/>
            <a:ext cx="3246120" cy="2651760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706624"/>
            <a:ext cx="2743200" cy="27432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39D9B0"/>
                </a:solidFill>
                <a:latin typeface="Aptos"/>
              </a:defRPr>
            </a:pPr>
            <a:r>
              <a:t>03 / CONSEQUENCE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3163824"/>
            <a:ext cx="2834640" cy="54864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2100" b="1">
                <a:solidFill>
                  <a:srgbClr val="EEF7FF"/>
                </a:solidFill>
                <a:latin typeface="Aptos"/>
              </a:defRPr>
            </a:pPr>
            <a:r>
              <a:t>Business harm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3877056"/>
            <a:ext cx="2816352" cy="8686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500" b="0">
                <a:solidFill>
                  <a:srgbClr val="9BB0C8"/>
                </a:solidFill>
                <a:latin typeface="Aptos"/>
              </a:defRPr>
            </a:pPr>
            <a:r>
              <a:t>Unauthorized financial action, leaked secrets, or interrupted workflow.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715000"/>
            <a:ext cx="10698480" cy="4114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2000" b="1">
                <a:solidFill>
                  <a:srgbClr val="39D9B0"/>
                </a:solidFill>
                <a:latin typeface="Aptos"/>
              </a:defRPr>
            </a:pPr>
            <a:r>
              <a:t>Product principle: External content supplies data, never authority.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84048"/>
            <a:ext cx="73152" cy="274320"/>
          </a:xfrm>
          <a:prstGeom prst="rect">
            <a:avLst/>
          </a:prstGeom>
          <a:solidFill>
            <a:srgbClr val="39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365760"/>
            <a:ext cx="640080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39D9B0"/>
                </a:solidFill>
                <a:latin typeface="Aptos"/>
              </a:defRPr>
            </a:pPr>
            <a:r>
              <a:t>TRUSTBOUNDARY /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93192"/>
            <a:ext cx="114300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r">
              <a:spcAft>
                <a:spcPts val="100"/>
              </a:spcAft>
              <a:defRPr sz="1000" b="1">
                <a:solidFill>
                  <a:srgbClr val="9BB0C8"/>
                </a:solidFill>
                <a:latin typeface="Aptos"/>
              </a:defRPr>
            </a:pPr>
            <a: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14400"/>
            <a:ext cx="11064240" cy="6400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2900" b="1">
                <a:solidFill>
                  <a:srgbClr val="EEF7FF"/>
                </a:solidFill>
                <a:latin typeface="Aptos"/>
              </a:defRPr>
            </a:pPr>
            <a:r>
              <a:t>Not a chatbot. A security layer around agent 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627632"/>
            <a:ext cx="10881360" cy="53035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300" b="0">
                <a:solidFill>
                  <a:srgbClr val="9BB0C8"/>
                </a:solidFill>
                <a:latin typeface="Aptos"/>
              </a:defRPr>
            </a:pPr>
            <a:r>
              <a:t>Three bounded components plus independent authorization and EGO measurement.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7315"/>
          </a:xfrm>
          <a:prstGeom prst="rect">
            <a:avLst/>
          </a:prstGeom>
          <a:solidFill>
            <a:srgbClr val="30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6583680"/>
            <a:ext cx="7315200" cy="1828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800" b="0">
                <a:solidFill>
                  <a:srgbClr val="9BB0C8"/>
                </a:solidFill>
                <a:latin typeface="Aptos"/>
              </a:defRPr>
            </a:pPr>
            <a:r>
              <a:t>ET × ACCENTURE AI HACKATHON 2026 · AGENTIC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583680"/>
            <a:ext cx="3200400" cy="1828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9BB0C8"/>
                </a:solidFill>
                <a:latin typeface="Aptos"/>
              </a:defRPr>
            </a:pPr>
            <a:r>
              <a:t>v1.4 · F3–D1 · SYNTHETIC SANDBOX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240280"/>
            <a:ext cx="6629400" cy="786384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04872"/>
            <a:ext cx="1645920" cy="34747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700" b="1">
                <a:solidFill>
                  <a:srgbClr val="39D9B0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2386584"/>
            <a:ext cx="4526280" cy="43891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300" b="0">
                <a:solidFill>
                  <a:srgbClr val="EEF7FF"/>
                </a:solidFill>
                <a:latin typeface="Aptos"/>
              </a:defRPr>
            </a:pPr>
            <a:r>
              <a:t>Normalize sources, inspect risky spans, assign provenance &amp; attack categories.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246120"/>
            <a:ext cx="6629400" cy="786384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410712"/>
            <a:ext cx="1645920" cy="34747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700" b="1">
                <a:solidFill>
                  <a:srgbClr val="39D9B0"/>
                </a:solidFill>
                <a:latin typeface="Aptos"/>
              </a:defRPr>
            </a:pPr>
            <a:r>
              <a:t>ENFORCE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3392424"/>
            <a:ext cx="4526280" cy="43891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300" b="0">
                <a:solidFill>
                  <a:srgbClr val="EEF7FF"/>
                </a:solidFill>
                <a:latin typeface="Aptos"/>
              </a:defRPr>
            </a:pPr>
            <a:r>
              <a:t>Deterministic role + source-trust gate; privileged tools need separate approval.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251960"/>
            <a:ext cx="6629400" cy="786384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416552"/>
            <a:ext cx="1645920" cy="34747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700" b="1">
                <a:solidFill>
                  <a:srgbClr val="39D9B0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0048" y="4398264"/>
            <a:ext cx="4526280" cy="43891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300" b="0">
                <a:solidFill>
                  <a:srgbClr val="EEF7FF"/>
                </a:solidFill>
                <a:latin typeface="Aptos"/>
              </a:defRPr>
            </a:pPr>
            <a:r>
              <a:t>Audit tool outcomes, triage incidents and replay reproducible security tests.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35824" y="2240280"/>
            <a:ext cx="3364992" cy="3383280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8704" y="2423160"/>
            <a:ext cx="3044952" cy="24688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9BB0C8"/>
                </a:solidFill>
                <a:latin typeface="Aptos"/>
              </a:defRPr>
            </a:pPr>
            <a:r>
              <a:t>DEFENSE-IN-DEPTH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743200"/>
            <a:ext cx="3044952" cy="53035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2600" b="1">
                <a:solidFill>
                  <a:srgbClr val="85A9FF"/>
                </a:solidFill>
                <a:latin typeface="Aptos"/>
              </a:defRPr>
            </a:pPr>
            <a:r>
              <a:t>9 categories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337560"/>
            <a:ext cx="3044952" cy="219456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100" b="0">
                <a:solidFill>
                  <a:srgbClr val="EEF7FF"/>
                </a:solidFill>
                <a:latin typeface="Aptos"/>
              </a:defRPr>
            </a:pPr>
            <a:r>
              <a:t>Optional hosted LLM + locally trained TF-IDF risk model + rule layer; authorization stays outside the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84048"/>
            <a:ext cx="73152" cy="274320"/>
          </a:xfrm>
          <a:prstGeom prst="rect">
            <a:avLst/>
          </a:prstGeom>
          <a:solidFill>
            <a:srgbClr val="39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365760"/>
            <a:ext cx="640080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39D9B0"/>
                </a:solidFill>
                <a:latin typeface="Aptos"/>
              </a:defRPr>
            </a:pPr>
            <a:r>
              <a:t>TRUSTBOUNDARY / 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93192"/>
            <a:ext cx="114300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r">
              <a:spcAft>
                <a:spcPts val="100"/>
              </a:spcAft>
              <a:defRPr sz="1000" b="1">
                <a:solidFill>
                  <a:srgbClr val="9BB0C8"/>
                </a:solidFill>
                <a:latin typeface="Aptos"/>
              </a:defRPr>
            </a:pPr>
            <a: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14400"/>
            <a:ext cx="11064240" cy="6400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2900" b="1">
                <a:solidFill>
                  <a:srgbClr val="EEF7FF"/>
                </a:solidFill>
                <a:latin typeface="Aptos"/>
              </a:defRPr>
            </a:pPr>
            <a:r>
              <a:t>Live attack laboratory and case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627632"/>
            <a:ext cx="10881360" cy="53035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300" b="0">
                <a:solidFill>
                  <a:srgbClr val="9BB0C8"/>
                </a:solidFill>
                <a:latin typeface="Aptos"/>
              </a:defRPr>
            </a:pPr>
            <a:r>
              <a:t>Same user task, same untrusted message, different tool authorization outcomes.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7315"/>
          </a:xfrm>
          <a:prstGeom prst="rect">
            <a:avLst/>
          </a:prstGeom>
          <a:solidFill>
            <a:srgbClr val="30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6583680"/>
            <a:ext cx="7315200" cy="1828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800" b="0">
                <a:solidFill>
                  <a:srgbClr val="9BB0C8"/>
                </a:solidFill>
                <a:latin typeface="Aptos"/>
              </a:defRPr>
            </a:pPr>
            <a:r>
              <a:t>ET × ACCENTURE AI HACKATHON 2026 · AGENTIC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583680"/>
            <a:ext cx="3200400" cy="1828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9BB0C8"/>
                </a:solidFill>
                <a:latin typeface="Aptos"/>
              </a:defRPr>
            </a:pPr>
            <a:r>
              <a:t>v1.4 · F3–D1 · SYNTHETIC SANDBOX</a:t>
            </a:r>
          </a:p>
        </p:txBody>
      </p:sp>
      <p:pic>
        <p:nvPicPr>
          <p:cNvPr id="10" name="Picture 9" descr="02_before_after.png"/>
          <p:cNvPicPr>
            <a:picLocks noChangeAspect="1"/>
          </p:cNvPicPr>
          <p:nvPr/>
        </p:nvPicPr>
        <p:blipFill>
          <a:blip r:embed="rId2"/>
          <a:srcRect b="65778"/>
          <a:stretch>
            <a:fillRect/>
          </a:stretch>
        </p:blipFill>
        <p:spPr>
          <a:xfrm>
            <a:off x="566928" y="2231136"/>
            <a:ext cx="8458200" cy="38679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89720" y="2231136"/>
            <a:ext cx="2395728" cy="3867912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45168" y="2523744"/>
            <a:ext cx="2011680" cy="32004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300" b="1">
                <a:solidFill>
                  <a:srgbClr val="39D9B0"/>
                </a:solidFill>
                <a:latin typeface="Aptos"/>
              </a:defRPr>
            </a:pPr>
            <a:r>
              <a:t>ROLE SPOOFING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5168" y="3035808"/>
            <a:ext cx="2048256" cy="95097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0">
                <a:solidFill>
                  <a:srgbClr val="FF8189"/>
                </a:solidFill>
                <a:latin typeface="Aptos"/>
              </a:defRPr>
            </a:pPr>
            <a:r>
              <a:t>Insecure scripted control follows the injected refund request.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5168" y="4206240"/>
            <a:ext cx="2048256" cy="139903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0">
                <a:solidFill>
                  <a:srgbClr val="EEF7FF"/>
                </a:solidFill>
                <a:latin typeface="Aptos"/>
              </a:defRPr>
            </a:pPr>
            <a:r>
              <a:t>Protected agent completes the ticket and denies the external-origin refund.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84048"/>
            <a:ext cx="73152" cy="274320"/>
          </a:xfrm>
          <a:prstGeom prst="rect">
            <a:avLst/>
          </a:prstGeom>
          <a:solidFill>
            <a:srgbClr val="39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365760"/>
            <a:ext cx="640080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39D9B0"/>
                </a:solidFill>
                <a:latin typeface="Aptos"/>
              </a:defRPr>
            </a:pPr>
            <a:r>
              <a:t>TRUSTBOUNDARY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93192"/>
            <a:ext cx="114300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r">
              <a:spcAft>
                <a:spcPts val="100"/>
              </a:spcAft>
              <a:defRPr sz="1000" b="1">
                <a:solidFill>
                  <a:srgbClr val="9BB0C8"/>
                </a:solidFill>
                <a:latin typeface="Aptos"/>
              </a:defRPr>
            </a:pPr>
            <a: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14400"/>
            <a:ext cx="11064240" cy="6400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2900" b="1">
                <a:solidFill>
                  <a:srgbClr val="EEF7FF"/>
                </a:solidFill>
                <a:latin typeface="Aptos"/>
              </a:defRPr>
            </a:pPr>
            <a:r>
              <a:t>Provenance → inspection → policy → tool authorization.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627632"/>
            <a:ext cx="10881360" cy="53035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300" b="0">
                <a:solidFill>
                  <a:srgbClr val="9BB0C8"/>
                </a:solidFill>
                <a:latin typeface="Aptos"/>
              </a:defRPr>
            </a:pPr>
            <a:r>
              <a:t>The classifier is advisory; the tool gateway is the actual safety boundary.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7315"/>
          </a:xfrm>
          <a:prstGeom prst="rect">
            <a:avLst/>
          </a:prstGeom>
          <a:solidFill>
            <a:srgbClr val="30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6583680"/>
            <a:ext cx="7315200" cy="1828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800" b="0">
                <a:solidFill>
                  <a:srgbClr val="9BB0C8"/>
                </a:solidFill>
                <a:latin typeface="Aptos"/>
              </a:defRPr>
            </a:pPr>
            <a:r>
              <a:t>ET × ACCENTURE AI HACKATHON 2026 · AGENTIC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583680"/>
            <a:ext cx="3200400" cy="1828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9BB0C8"/>
                </a:solidFill>
                <a:latin typeface="Aptos"/>
              </a:defRPr>
            </a:pPr>
            <a:r>
              <a:t>v1.4 · F3–D1 · SYNTHETIC SANDBOX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2048256"/>
            <a:ext cx="7863840" cy="457200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121408"/>
            <a:ext cx="3291840" cy="237744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EEF7FF"/>
                </a:solidFill>
                <a:latin typeface="Aptos"/>
              </a:defRPr>
            </a:pPr>
            <a:r>
              <a:t>USER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130552"/>
            <a:ext cx="4297680" cy="21945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000" b="0">
                <a:solidFill>
                  <a:srgbClr val="9BB0C8"/>
                </a:solidFill>
                <a:latin typeface="Aptos"/>
              </a:defRPr>
            </a:pPr>
            <a:r>
              <a:t>trusted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441448"/>
            <a:ext cx="640080" cy="21945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39D9B0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2587752"/>
            <a:ext cx="7863840" cy="457200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660904"/>
            <a:ext cx="3291840" cy="237744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EEF7FF"/>
                </a:solidFill>
                <a:latin typeface="Aptos"/>
              </a:defRPr>
            </a:pPr>
            <a:r>
              <a:t>CONTENT 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670048"/>
            <a:ext cx="4297680" cy="21945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000" b="0">
                <a:solidFill>
                  <a:srgbClr val="9BB0C8"/>
                </a:solidFill>
                <a:latin typeface="Aptos"/>
              </a:defRPr>
            </a:pPr>
            <a:r>
              <a:t>email · HTML · PDF ·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980944"/>
            <a:ext cx="640080" cy="21945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39D9B0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3127248"/>
            <a:ext cx="7863840" cy="457200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3200400"/>
            <a:ext cx="3291840" cy="237744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EEF7FF"/>
                </a:solidFill>
                <a:latin typeface="Aptos"/>
              </a:defRPr>
            </a:pPr>
            <a:r>
              <a:t>INSPECTION COMPONENT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209544"/>
            <a:ext cx="4297680" cy="21945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000" b="0">
                <a:solidFill>
                  <a:srgbClr val="9BB0C8"/>
                </a:solidFill>
                <a:latin typeface="Aptos"/>
              </a:defRPr>
            </a:pPr>
            <a:r>
              <a:t>local ML + rules + optional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3520440"/>
            <a:ext cx="640080" cy="21945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39D9B0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3666744"/>
            <a:ext cx="7863840" cy="457200"/>
          </a:xfrm>
          <a:prstGeom prst="roundRect">
            <a:avLst/>
          </a:prstGeom>
          <a:solidFill>
            <a:srgbClr val="162C43"/>
          </a:solidFill>
          <a:ln>
            <a:solidFill>
              <a:srgbClr val="39D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3739896"/>
            <a:ext cx="3291840" cy="237744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39D9B0"/>
                </a:solidFill>
                <a:latin typeface="Aptos"/>
              </a:defRPr>
            </a:pPr>
            <a:r>
              <a:t>RISK DISPOSITION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749039"/>
            <a:ext cx="4297680" cy="21945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000" b="0">
                <a:solidFill>
                  <a:srgbClr val="9BB0C8"/>
                </a:solidFill>
                <a:latin typeface="Aptos"/>
              </a:defRPr>
            </a:pPr>
            <a:r>
              <a:t>allow / sanitize / quarantine / escalate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059935"/>
            <a:ext cx="640080" cy="21945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39D9B0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94560" y="4206240"/>
            <a:ext cx="7863840" cy="457200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4279392"/>
            <a:ext cx="3291840" cy="237744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EEF7FF"/>
                </a:solidFill>
                <a:latin typeface="Aptos"/>
              </a:defRPr>
            </a:pPr>
            <a:r>
              <a:t>BUSINESS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288536"/>
            <a:ext cx="4297680" cy="21945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000" b="0">
                <a:solidFill>
                  <a:srgbClr val="9BB0C8"/>
                </a:solidFill>
                <a:latin typeface="Aptos"/>
              </a:defRPr>
            </a:pPr>
            <a:r>
              <a:t>settlement read · ticket draft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4599431"/>
            <a:ext cx="640080" cy="21945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39D9B0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94560" y="4745736"/>
            <a:ext cx="7863840" cy="457200"/>
          </a:xfrm>
          <a:prstGeom prst="roundRect">
            <a:avLst/>
          </a:prstGeom>
          <a:solidFill>
            <a:srgbClr val="162C43"/>
          </a:solidFill>
          <a:ln>
            <a:solidFill>
              <a:srgbClr val="39D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40" y="4818888"/>
            <a:ext cx="3291840" cy="237744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39D9B0"/>
                </a:solidFill>
                <a:latin typeface="Aptos"/>
              </a:defRPr>
            </a:pPr>
            <a:r>
              <a:t>DETERMINISTIC TOOL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828031"/>
            <a:ext cx="4297680" cy="21945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000" b="0">
                <a:solidFill>
                  <a:srgbClr val="9BB0C8"/>
                </a:solidFill>
                <a:latin typeface="Aptos"/>
              </a:defRPr>
            </a:pPr>
            <a:r>
              <a:t>role · source · independent 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5138927"/>
            <a:ext cx="640080" cy="21945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39D9B0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0" y="5285232"/>
            <a:ext cx="7863840" cy="457200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5358384"/>
            <a:ext cx="3291840" cy="237744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EEF7FF"/>
                </a:solidFill>
                <a:latin typeface="Aptos"/>
              </a:defRPr>
            </a:pPr>
            <a:r>
              <a:t>AUDIT + EGO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367528"/>
            <a:ext cx="4297680" cy="21945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000" b="0">
                <a:solidFill>
                  <a:srgbClr val="9BB0C8"/>
                </a:solidFill>
                <a:latin typeface="Aptos"/>
              </a:defRPr>
            </a:pPr>
            <a:r>
              <a:t>trace · score · incident triage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84048"/>
            <a:ext cx="73152" cy="274320"/>
          </a:xfrm>
          <a:prstGeom prst="rect">
            <a:avLst/>
          </a:prstGeom>
          <a:solidFill>
            <a:srgbClr val="39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365760"/>
            <a:ext cx="640080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39D9B0"/>
                </a:solidFill>
                <a:latin typeface="Aptos"/>
              </a:defRPr>
            </a:pPr>
            <a:r>
              <a:t>TRUSTBOUNDARY / OFFICIAL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93192"/>
            <a:ext cx="114300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r">
              <a:spcAft>
                <a:spcPts val="100"/>
              </a:spcAft>
              <a:defRPr sz="1000" b="1">
                <a:solidFill>
                  <a:srgbClr val="9BB0C8"/>
                </a:solidFill>
                <a:latin typeface="Aptos"/>
              </a:defRPr>
            </a:pPr>
            <a: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14400"/>
            <a:ext cx="11064240" cy="6400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2900" b="1">
                <a:solidFill>
                  <a:srgbClr val="EEF7FF"/>
                </a:solidFill>
                <a:latin typeface="Aptos"/>
              </a:defRPr>
            </a:pPr>
            <a:r>
              <a:t>Nine attack patterns implemented and unit-tested.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627632"/>
            <a:ext cx="10881360" cy="53035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300" b="0">
                <a:solidFill>
                  <a:srgbClr val="9BB0C8"/>
                </a:solidFill>
                <a:latin typeface="Aptos"/>
              </a:defRPr>
            </a:pPr>
            <a:r>
              <a:t>Official F3 requires ≥7 tested categories. Broad real-world coverage remains unverified.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7315"/>
          </a:xfrm>
          <a:prstGeom prst="rect">
            <a:avLst/>
          </a:prstGeom>
          <a:solidFill>
            <a:srgbClr val="30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6583680"/>
            <a:ext cx="7315200" cy="1828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800" b="0">
                <a:solidFill>
                  <a:srgbClr val="9BB0C8"/>
                </a:solidFill>
                <a:latin typeface="Aptos"/>
              </a:defRPr>
            </a:pPr>
            <a:r>
              <a:t>ET × ACCENTURE AI HACKATHON 2026 · AGENTIC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583680"/>
            <a:ext cx="3200400" cy="1828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9BB0C8"/>
                </a:solidFill>
                <a:latin typeface="Aptos"/>
              </a:defRPr>
            </a:pPr>
            <a:r>
              <a:t>v1.4 · F3–D1 · SYNTHETIC SANDBOX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12848"/>
            <a:ext cx="3493008" cy="841248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441448"/>
            <a:ext cx="365760" cy="32004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39D9B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32304"/>
            <a:ext cx="2624328" cy="45720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EEF7FF"/>
                </a:solidFill>
                <a:latin typeface="Aptos"/>
              </a:defRPr>
            </a:pPr>
            <a:r>
              <a:t>Instruction Override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212848"/>
            <a:ext cx="3493008" cy="841248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4" y="2441448"/>
            <a:ext cx="365760" cy="32004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39D9B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432304"/>
            <a:ext cx="2624328" cy="45720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EEF7FF"/>
                </a:solidFill>
                <a:latin typeface="Aptos"/>
              </a:defRPr>
            </a:pPr>
            <a:r>
              <a:t>Role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212848"/>
            <a:ext cx="3493008" cy="841248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2441448"/>
            <a:ext cx="365760" cy="32004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39D9B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432304"/>
            <a:ext cx="2624328" cy="45720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EEF7FF"/>
                </a:solidFill>
                <a:latin typeface="Aptos"/>
              </a:defRPr>
            </a:pPr>
            <a:r>
              <a:t>Secret Extraction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64408"/>
            <a:ext cx="3493008" cy="841248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3493008"/>
            <a:ext cx="365760" cy="32004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39D9B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483863"/>
            <a:ext cx="2624328" cy="45720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EEF7FF"/>
                </a:solidFill>
                <a:latin typeface="Aptos"/>
              </a:defRPr>
            </a:pPr>
            <a:r>
              <a:t>Tool Abuse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264408"/>
            <a:ext cx="3493008" cy="841248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3493008"/>
            <a:ext cx="365760" cy="32004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39D9B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483863"/>
            <a:ext cx="2624328" cy="45720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EEF7FF"/>
                </a:solidFill>
                <a:latin typeface="Aptos"/>
              </a:defRPr>
            </a:pPr>
            <a:r>
              <a:t>Credential Theft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3264408"/>
            <a:ext cx="3493008" cy="841248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58784" y="3493008"/>
            <a:ext cx="365760" cy="32004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39D9B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483863"/>
            <a:ext cx="2624328" cy="45720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EEF7FF"/>
                </a:solidFill>
                <a:latin typeface="Aptos"/>
              </a:defRPr>
            </a:pPr>
            <a:r>
              <a:t>Context Poisoning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315968"/>
            <a:ext cx="3493008" cy="841248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544568"/>
            <a:ext cx="365760" cy="32004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39D9B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535424"/>
            <a:ext cx="2624328" cy="45720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EEF7FF"/>
                </a:solidFill>
                <a:latin typeface="Aptos"/>
              </a:defRPr>
            </a:pPr>
            <a:r>
              <a:t>Multi-Step Jailbreaks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4315968"/>
            <a:ext cx="3493008" cy="841248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8304" y="4544568"/>
            <a:ext cx="365760" cy="32004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39D9B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535424"/>
            <a:ext cx="2624328" cy="45720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EEF7FF"/>
                </a:solidFill>
                <a:latin typeface="Aptos"/>
              </a:defRPr>
            </a:pPr>
            <a:r>
              <a:t>Encoded Instructions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4315968"/>
            <a:ext cx="3493008" cy="841248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58784" y="4544568"/>
            <a:ext cx="365760" cy="32004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39D9B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4535424"/>
            <a:ext cx="2624328" cy="45720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EEF7FF"/>
                </a:solidFill>
                <a:latin typeface="Aptos"/>
              </a:defRPr>
            </a:pPr>
            <a:r>
              <a:t>Indirect Prompt Injection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" y="5724144"/>
            <a:ext cx="10881360" cy="32004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500" b="0">
                <a:solidFill>
                  <a:srgbClr val="9BB0C8"/>
                </a:solidFill>
                <a:latin typeface="Aptos"/>
              </a:defRPr>
            </a:pPr>
            <a:r>
              <a:t>Evidence: labeled fixtures · regression tests · per-category synthetic holdout · redacted spans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84048"/>
            <a:ext cx="73152" cy="274320"/>
          </a:xfrm>
          <a:prstGeom prst="rect">
            <a:avLst/>
          </a:prstGeom>
          <a:solidFill>
            <a:srgbClr val="39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365760"/>
            <a:ext cx="640080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39D9B0"/>
                </a:solidFill>
                <a:latin typeface="Aptos"/>
              </a:defRPr>
            </a:pPr>
            <a:r>
              <a:t>TRUSTBOUNDARY / MEASURED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93192"/>
            <a:ext cx="114300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r">
              <a:spcAft>
                <a:spcPts val="100"/>
              </a:spcAft>
              <a:defRPr sz="1000" b="1">
                <a:solidFill>
                  <a:srgbClr val="9BB0C8"/>
                </a:solidFill>
                <a:latin typeface="Aptos"/>
              </a:defRPr>
            </a:pPr>
            <a: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14400"/>
            <a:ext cx="11064240" cy="6400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2900" b="1">
                <a:solidFill>
                  <a:srgbClr val="EEF7FF"/>
                </a:solidFill>
                <a:latin typeface="Aptos"/>
              </a:defRPr>
            </a:pPr>
            <a:r>
              <a:t>Safety evaluation: results depend on the test distribution.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627632"/>
            <a:ext cx="10881360" cy="53035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300" b="0">
                <a:solidFill>
                  <a:srgbClr val="9BB0C8"/>
                </a:solidFill>
                <a:latin typeface="Aptos"/>
              </a:defRPr>
            </a:pPr>
            <a:r>
              <a:t>A known-case retest is not independent evidence; the fresh 40-case result remains weak.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7315"/>
          </a:xfrm>
          <a:prstGeom prst="rect">
            <a:avLst/>
          </a:prstGeom>
          <a:solidFill>
            <a:srgbClr val="30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6583680"/>
            <a:ext cx="7315200" cy="1828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800" b="0">
                <a:solidFill>
                  <a:srgbClr val="9BB0C8"/>
                </a:solidFill>
                <a:latin typeface="Aptos"/>
              </a:defRPr>
            </a:pPr>
            <a:r>
              <a:t>ET × ACCENTURE AI HACKATHON 2026 · AGENTIC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583680"/>
            <a:ext cx="3200400" cy="1828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9BB0C8"/>
                </a:solidFill>
                <a:latin typeface="Aptos"/>
              </a:defRPr>
            </a:pPr>
            <a:r>
              <a:t>v1.4 · F3–D1 · SYNTHETIC SANDBOX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77440"/>
            <a:ext cx="3611880" cy="2670048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42616"/>
            <a:ext cx="3273552" cy="31089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300" b="1">
                <a:solidFill>
                  <a:srgbClr val="9BB0C8"/>
                </a:solidFill>
                <a:latin typeface="Aptos"/>
              </a:defRPr>
            </a:pPr>
            <a:r>
              <a:t>PRE-FIX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18104"/>
            <a:ext cx="3255264" cy="6400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3700" b="1">
                <a:solidFill>
                  <a:srgbClr val="FF8189"/>
                </a:solidFill>
                <a:latin typeface="Aptos"/>
              </a:defRPr>
            </a:pPr>
            <a:r>
              <a:t>58.3%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58768"/>
            <a:ext cx="3255264" cy="31089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EEF7FF"/>
                </a:solidFill>
                <a:latin typeface="Aptos"/>
              </a:defRPr>
            </a:pPr>
            <a:r>
              <a:t>14 / 24 attacks detected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80"/>
            <a:ext cx="3200400" cy="50292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9BB0C8"/>
                </a:solidFill>
                <a:latin typeface="Aptos"/>
              </a:defRPr>
            </a:pPr>
            <a:r>
              <a:t>42 known cases; 1 benign FP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377440"/>
            <a:ext cx="3611880" cy="2670048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642616"/>
            <a:ext cx="3273552" cy="31089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300" b="1">
                <a:solidFill>
                  <a:srgbClr val="9BB0C8"/>
                </a:solidFill>
                <a:latin typeface="Aptos"/>
              </a:defRPr>
            </a:pPr>
            <a:r>
              <a:t>FEEDBACK RETEST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118104"/>
            <a:ext cx="3255264" cy="6400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3700" b="1">
                <a:solidFill>
                  <a:srgbClr val="39D9B0"/>
                </a:solidFill>
                <a:latin typeface="Aptos"/>
              </a:defRPr>
            </a:pPr>
            <a:r>
              <a:t>100.0%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858768"/>
            <a:ext cx="3255264" cy="31089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EEF7FF"/>
                </a:solidFill>
                <a:latin typeface="Aptos"/>
              </a:defRPr>
            </a:pPr>
            <a:r>
              <a:t>30 / 30 attacks detected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297680"/>
            <a:ext cx="3200400" cy="50292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9BB0C8"/>
                </a:solidFill>
                <a:latin typeface="Aptos"/>
              </a:defRPr>
            </a:pPr>
            <a:r>
              <a:t>60 known cases, tuned to feedback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2377440"/>
            <a:ext cx="3611880" cy="2670048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2642616"/>
            <a:ext cx="3273552" cy="31089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300" b="1">
                <a:solidFill>
                  <a:srgbClr val="9BB0C8"/>
                </a:solidFill>
                <a:latin typeface="Aptos"/>
              </a:defRPr>
            </a:pPr>
            <a:r>
              <a:t>NEW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118104"/>
            <a:ext cx="3255264" cy="6400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3700" b="1">
                <a:solidFill>
                  <a:srgbClr val="F1C174"/>
                </a:solidFill>
                <a:latin typeface="Aptos"/>
              </a:defRPr>
            </a:pPr>
            <a:r>
              <a:t>35.0%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858768"/>
            <a:ext cx="3255264" cy="31089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EEF7FF"/>
                </a:solidFill>
                <a:latin typeface="Aptos"/>
              </a:defRPr>
            </a:pPr>
            <a:r>
              <a:t>7 / 20 attacks detected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4297680"/>
            <a:ext cx="3200400" cy="50292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9BB0C8"/>
                </a:solidFill>
                <a:latin typeface="Aptos"/>
              </a:defRPr>
            </a:pPr>
            <a:r>
              <a:t>40 new authored cases; 1 benign FP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" y="5294376"/>
            <a:ext cx="10954512" cy="694944"/>
          </a:xfrm>
          <a:prstGeom prst="roundRect">
            <a:avLst/>
          </a:prstGeom>
          <a:solidFill>
            <a:srgbClr val="162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5468112"/>
            <a:ext cx="10570464" cy="42976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300" b="1">
                <a:solidFill>
                  <a:srgbClr val="F1C174"/>
                </a:solidFill>
                <a:latin typeface="Aptos"/>
              </a:defRPr>
            </a:pPr>
            <a:r>
              <a:t>F3–D1 only. Template benchmark 45/45; newly frozen challenge misses 13/20 attacks. Zero forbidden mock tool 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84048"/>
            <a:ext cx="73152" cy="274320"/>
          </a:xfrm>
          <a:prstGeom prst="rect">
            <a:avLst/>
          </a:prstGeom>
          <a:solidFill>
            <a:srgbClr val="39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365760"/>
            <a:ext cx="640080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39D9B0"/>
                </a:solidFill>
                <a:latin typeface="Aptos"/>
              </a:defRPr>
            </a:pPr>
            <a:r>
              <a:t>TRUSTBOUNDARY / QUALITY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93192"/>
            <a:ext cx="114300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r">
              <a:spcAft>
                <a:spcPts val="100"/>
              </a:spcAft>
              <a:defRPr sz="1000" b="1">
                <a:solidFill>
                  <a:srgbClr val="9BB0C8"/>
                </a:solidFill>
                <a:latin typeface="Aptos"/>
              </a:defRPr>
            </a:pPr>
            <a: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14400"/>
            <a:ext cx="11064240" cy="6400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2900" b="1">
                <a:solidFill>
                  <a:srgbClr val="EEF7FF"/>
                </a:solidFill>
                <a:latin typeface="Aptos"/>
              </a:defRPr>
            </a:pPr>
            <a:r>
              <a:t>EGO measures safety AND usefulness.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627632"/>
            <a:ext cx="10881360" cy="53035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300" b="0">
                <a:solidFill>
                  <a:srgbClr val="9BB0C8"/>
                </a:solidFill>
                <a:latin typeface="Aptos"/>
              </a:defRPr>
            </a:pPr>
            <a:r>
              <a:t>Security that breaks every legitimate workflow is not a viable enterprise product.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7315"/>
          </a:xfrm>
          <a:prstGeom prst="rect">
            <a:avLst/>
          </a:prstGeom>
          <a:solidFill>
            <a:srgbClr val="30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6583680"/>
            <a:ext cx="7315200" cy="1828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800" b="0">
                <a:solidFill>
                  <a:srgbClr val="9BB0C8"/>
                </a:solidFill>
                <a:latin typeface="Aptos"/>
              </a:defRPr>
            </a:pPr>
            <a:r>
              <a:t>ET × ACCENTURE AI HACKATHON 2026 · AGENTIC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583680"/>
            <a:ext cx="3200400" cy="1828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9BB0C8"/>
                </a:solidFill>
                <a:latin typeface="Aptos"/>
              </a:defRPr>
            </a:pPr>
            <a:r>
              <a:t>v1.4 · F3–D1 · SYNTHETIC SANDBOX</a:t>
            </a:r>
          </a:p>
        </p:txBody>
      </p:sp>
      <p:pic>
        <p:nvPicPr>
          <p:cNvPr id="10" name="Picture 9" descr="03_evaluation.png"/>
          <p:cNvPicPr>
            <a:picLocks noChangeAspect="1"/>
          </p:cNvPicPr>
          <p:nvPr/>
        </p:nvPicPr>
        <p:blipFill>
          <a:blip r:embed="rId2"/>
          <a:srcRect b="40269"/>
          <a:stretch>
            <a:fillRect/>
          </a:stretch>
        </p:blipFill>
        <p:spPr>
          <a:xfrm>
            <a:off x="585216" y="2148840"/>
            <a:ext cx="7406640" cy="405079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57031" y="2395728"/>
            <a:ext cx="3246120" cy="978408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2523744"/>
            <a:ext cx="2816352" cy="27432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39D9B0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9056" y="2843784"/>
            <a:ext cx="2816352" cy="43891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9BB0C8"/>
                </a:solidFill>
                <a:latin typeface="Aptos"/>
              </a:defRPr>
            </a:pPr>
            <a:r>
              <a:t>Attack recall, precision, per-class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57031" y="3657600"/>
            <a:ext cx="3246120" cy="978408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3785615"/>
            <a:ext cx="2816352" cy="27432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39D9B0"/>
                </a:solidFill>
                <a:latin typeface="Aptos"/>
              </a:defRPr>
            </a:pPr>
            <a: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4105656"/>
            <a:ext cx="2816352" cy="43891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9BB0C8"/>
                </a:solidFill>
                <a:latin typeface="Aptos"/>
              </a:defRPr>
            </a:pPr>
            <a:r>
              <a:t>No unauthorized mock tool execution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57031" y="4910328"/>
            <a:ext cx="3246120" cy="978408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6" y="5038344"/>
            <a:ext cx="2816352" cy="27432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39D9B0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5358384"/>
            <a:ext cx="2816352" cy="43891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9BB0C8"/>
                </a:solidFill>
                <a:latin typeface="Aptos"/>
              </a:defRPr>
            </a:pPr>
            <a:r>
              <a:t>Audit chain, latency and failure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84048"/>
            <a:ext cx="73152" cy="274320"/>
          </a:xfrm>
          <a:prstGeom prst="rect">
            <a:avLst/>
          </a:prstGeom>
          <a:solidFill>
            <a:srgbClr val="39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365760"/>
            <a:ext cx="640080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39D9B0"/>
                </a:solidFill>
                <a:latin typeface="Aptos"/>
              </a:defRPr>
            </a:pPr>
            <a:r>
              <a:t>TRUSTBOUNDARY / PRODUCT +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93192"/>
            <a:ext cx="114300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r">
              <a:spcAft>
                <a:spcPts val="100"/>
              </a:spcAft>
              <a:defRPr sz="1000" b="1">
                <a:solidFill>
                  <a:srgbClr val="9BB0C8"/>
                </a:solidFill>
                <a:latin typeface="Aptos"/>
              </a:defRPr>
            </a:pPr>
            <a: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14400"/>
            <a:ext cx="11064240" cy="6400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2900" b="1">
                <a:solidFill>
                  <a:srgbClr val="EEF7FF"/>
                </a:solidFill>
                <a:latin typeface="Aptos"/>
              </a:defRPr>
            </a:pPr>
            <a:r>
              <a:t>Designed like an enterprise AI platform, not a toy.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627632"/>
            <a:ext cx="10881360" cy="53035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300" b="0">
                <a:solidFill>
                  <a:srgbClr val="9BB0C8"/>
                </a:solidFill>
                <a:latin typeface="Aptos"/>
              </a:defRPr>
            </a:pPr>
            <a:r>
              <a:t>A synthetic fintech operations scenario connects risk to real business decision-making.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7315"/>
          </a:xfrm>
          <a:prstGeom prst="rect">
            <a:avLst/>
          </a:prstGeom>
          <a:solidFill>
            <a:srgbClr val="30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6583680"/>
            <a:ext cx="7315200" cy="1828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800" b="0">
                <a:solidFill>
                  <a:srgbClr val="9BB0C8"/>
                </a:solidFill>
                <a:latin typeface="Aptos"/>
              </a:defRPr>
            </a:pPr>
            <a:r>
              <a:t>ET × ACCENTURE AI HACKATHON 2026 · AGENTIC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583680"/>
            <a:ext cx="3200400" cy="1828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9BB0C8"/>
                </a:solidFill>
                <a:latin typeface="Aptos"/>
              </a:defRPr>
            </a:pPr>
            <a:r>
              <a:t>v1.4 · F3–D1 · SYNTHETIC SANDBOX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76856"/>
            <a:ext cx="3182112" cy="2715768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51176"/>
            <a:ext cx="2743200" cy="24688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39D9B0"/>
                </a:solidFill>
                <a:latin typeface="Aptos"/>
              </a:defRPr>
            </a:pPr>
            <a:r>
              <a:t>CONTROL 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2798064" cy="53035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2200" b="1">
                <a:solidFill>
                  <a:srgbClr val="EEF7FF"/>
                </a:solidFill>
                <a:latin typeface="Aptos"/>
              </a:defRPr>
            </a:pPr>
            <a:r>
              <a:t>Platform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39896"/>
            <a:ext cx="2807208" cy="832104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500" b="0">
                <a:solidFill>
                  <a:srgbClr val="9BB0C8"/>
                </a:solidFill>
                <a:latin typeface="Aptos"/>
              </a:defRPr>
            </a:pPr>
            <a:r>
              <a:t>Central AI policy and model-independent safety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44568" y="2276856"/>
            <a:ext cx="3182112" cy="2715768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551176"/>
            <a:ext cx="2743200" cy="24688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39D9B0"/>
                </a:solidFill>
                <a:latin typeface="Aptos"/>
              </a:defRPr>
            </a:pPr>
            <a:r>
              <a:t>AGENT 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971800"/>
            <a:ext cx="2798064" cy="53035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2200" b="1">
                <a:solidFill>
                  <a:srgbClr val="EEF7FF"/>
                </a:solidFill>
                <a:latin typeface="Aptos"/>
              </a:defRPr>
            </a:pPr>
            <a:r>
              <a:t>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3739896"/>
            <a:ext cx="2807208" cy="832104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500" b="0">
                <a:solidFill>
                  <a:srgbClr val="9BB0C8"/>
                </a:solidFill>
                <a:latin typeface="Aptos"/>
              </a:defRPr>
            </a:pPr>
            <a:r>
              <a:t>Inspection, task execution, incident analysis and replay.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276856"/>
            <a:ext cx="3182112" cy="2715768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9" y="2551176"/>
            <a:ext cx="2743200" cy="24688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39D9B0"/>
                </a:solidFill>
                <a:latin typeface="Aptos"/>
              </a:defRPr>
            </a:pPr>
            <a:r>
              <a:t>PRODUCT KPIs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2971800"/>
            <a:ext cx="2798064" cy="53035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2200" b="1">
                <a:solidFill>
                  <a:srgbClr val="EEF7FF"/>
                </a:solidFill>
                <a:latin typeface="Aptos"/>
              </a:defRPr>
            </a:pPr>
            <a:r>
              <a:t>Measurable ROI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3739896"/>
            <a:ext cx="2807208" cy="832104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500" b="0">
                <a:solidFill>
                  <a:srgbClr val="9BB0C8"/>
                </a:solidFill>
                <a:latin typeface="Aptos"/>
              </a:defRPr>
            </a:pPr>
            <a:r>
              <a:t>Safety, false positives, permitted-workflow success, costs.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5596128"/>
            <a:ext cx="10607040" cy="43891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600" b="0">
                <a:solidFill>
                  <a:srgbClr val="F1C174"/>
                </a:solidFill>
                <a:latin typeface="Aptos"/>
              </a:defRPr>
            </a:pPr>
            <a:r>
              <a:t>Financial-impact dashboard uses editable hypothetical assumptions; no real customer savings claimed.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84048"/>
            <a:ext cx="73152" cy="274320"/>
          </a:xfrm>
          <a:prstGeom prst="rect">
            <a:avLst/>
          </a:prstGeom>
          <a:solidFill>
            <a:srgbClr val="39D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365760"/>
            <a:ext cx="640080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39D9B0"/>
                </a:solidFill>
                <a:latin typeface="Aptos"/>
              </a:defRPr>
            </a:pPr>
            <a:r>
              <a:t>TRUSTBOUNDARY /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93192"/>
            <a:ext cx="114300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r">
              <a:spcAft>
                <a:spcPts val="100"/>
              </a:spcAft>
              <a:defRPr sz="1000" b="1">
                <a:solidFill>
                  <a:srgbClr val="9BB0C8"/>
                </a:solidFill>
                <a:latin typeface="Aptos"/>
              </a:defRPr>
            </a:pPr>
            <a: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14400"/>
            <a:ext cx="11064240" cy="6400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2900" b="1">
                <a:solidFill>
                  <a:srgbClr val="EEF7FF"/>
                </a:solidFill>
                <a:latin typeface="Aptos"/>
              </a:defRPr>
            </a:pPr>
            <a:r>
              <a:t>Runnable, measurable, and clear about limitations.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627632"/>
            <a:ext cx="10881360" cy="53035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300" b="0">
                <a:solidFill>
                  <a:srgbClr val="9BB0C8"/>
                </a:solidFill>
                <a:latin typeface="Aptos"/>
              </a:defRPr>
            </a:pPr>
            <a:r>
              <a:t>Working local prototype + source tests + case-level evidence + pitch materials.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55680" cy="7315"/>
          </a:xfrm>
          <a:prstGeom prst="rect">
            <a:avLst/>
          </a:prstGeom>
          <a:solidFill>
            <a:srgbClr val="30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6583680"/>
            <a:ext cx="7315200" cy="1828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800" b="0">
                <a:solidFill>
                  <a:srgbClr val="9BB0C8"/>
                </a:solidFill>
                <a:latin typeface="Aptos"/>
              </a:defRPr>
            </a:pPr>
            <a:r>
              <a:t>ET × ACCENTURE AI HACKATHON 2026 · AGENTIC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583680"/>
            <a:ext cx="3200400" cy="1828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r">
              <a:spcAft>
                <a:spcPts val="100"/>
              </a:spcAft>
              <a:defRPr sz="800" b="0">
                <a:solidFill>
                  <a:srgbClr val="9BB0C8"/>
                </a:solidFill>
                <a:latin typeface="Aptos"/>
              </a:defRPr>
            </a:pPr>
            <a:r>
              <a:t>v1.4 · F3–D1 · SYNTHETIC SANDBOX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" y="2212848"/>
            <a:ext cx="10469880" cy="905256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441448"/>
            <a:ext cx="2377440" cy="31089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39D9B0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423160"/>
            <a:ext cx="7635240" cy="49377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0">
                <a:solidFill>
                  <a:srgbClr val="EEF7FF"/>
                </a:solidFill>
                <a:latin typeface="Aptos"/>
              </a:defRPr>
            </a:pPr>
            <a:r>
              <a:t>Run the protected fintech workflow, evaluate,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" y="3328415"/>
            <a:ext cx="10469880" cy="905256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557015"/>
            <a:ext cx="2377440" cy="31089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39D9B0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3538727"/>
            <a:ext cx="7635240" cy="49377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0">
                <a:solidFill>
                  <a:srgbClr val="EEF7FF"/>
                </a:solidFill>
                <a:latin typeface="Aptos"/>
              </a:defRPr>
            </a:pPr>
            <a:r>
              <a:t>Independent testing and live OpenAI evaluation; fresh 40-case recall only 35.0%.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" y="4443983"/>
            <a:ext cx="10469880" cy="905256"/>
          </a:xfrm>
          <a:prstGeom prst="roundRect">
            <a:avLst/>
          </a:prstGeom>
          <a:solidFill>
            <a:srgbClr val="11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4672583"/>
            <a:ext cx="2377440" cy="31089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39D9B0"/>
                </a:solidFill>
                <a:latin typeface="Aptos"/>
              </a:defRPr>
            </a:pPr>
            <a:r>
              <a:t>FOR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4654296"/>
            <a:ext cx="7635240" cy="49377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400" b="0">
                <a:solidFill>
                  <a:srgbClr val="EEF7FF"/>
                </a:solidFill>
                <a:latin typeface="Aptos"/>
              </a:defRPr>
            </a:pPr>
            <a:r>
              <a:t>Multitenant auth, audit hardening, SIEM, OCR, rate limits, independent security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568696"/>
            <a:ext cx="10835640" cy="34747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9BB0C8"/>
                </a:solidFill>
                <a:latin typeface="Aptos"/>
              </a:defRPr>
            </a:pPr>
            <a:r>
              <a:t>Repository: github.com/saidhinu/TrustBoundary-AI-Agentic-Security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824728"/>
            <a:ext cx="9144000" cy="41148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spcAft>
                <a:spcPts val="100"/>
              </a:spcAft>
              <a:defRPr sz="2200" b="1">
                <a:solidFill>
                  <a:srgbClr val="39D9B0"/>
                </a:solidFill>
                <a:latin typeface="Aptos"/>
              </a:defRPr>
            </a:pPr>
            <a:r>
              <a:t>TrustBoundary: provenance before permission.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