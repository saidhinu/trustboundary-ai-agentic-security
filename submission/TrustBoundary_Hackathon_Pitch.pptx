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01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Enterprise agents can act. Can they be trusted?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Prompt Injection Firewall · Problem Statement #2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v1.7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881360" cy="32004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9144000" cy="7680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4600" b="1">
                <a:solidFill>
                  <a:srgbClr val="EEF7FF"/>
                </a:solidFill>
                <a:latin typeface="Aptos"/>
              </a:defRPr>
            </a:pPr>
            <a:r>
              <a:t>TRUSTBOUNDARY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974336"/>
            <a:ext cx="914400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Participant: Dhinesh Babu Venkatesan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2560320"/>
            <a:ext cx="914400" cy="7589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4600" b="1">
                <a:solidFill>
                  <a:srgbClr val="39D9B0"/>
                </a:solidFill>
                <a:latin typeface="Aptos"/>
              </a:defRPr>
            </a:pPr>
            <a: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611880"/>
            <a:ext cx="914400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900" b="1">
                <a:solidFill>
                  <a:srgbClr val="39D9B0"/>
                </a:solidFill>
                <a:latin typeface="Aptos"/>
              </a:defRPr>
            </a:pPr>
            <a:r>
              <a:t>THE AGENTIC SECURITY CONTROL PLANE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251960"/>
            <a:ext cx="9692640" cy="6675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9BB0C8"/>
                </a:solidFill>
                <a:latin typeface="Aptos"/>
              </a:defRPr>
            </a:pPr>
            <a:r>
              <a:t>Detect hostile instructions · Contain unauthorized tool actions · Measure true task utility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Prompt injection becomes business risk when AI can 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An email, retrieved page or tool response may contain a forged high-priority instruction.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v1.7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23160"/>
            <a:ext cx="3246120" cy="265176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06624"/>
            <a:ext cx="274320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01 / ATTACK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63824"/>
            <a:ext cx="2834640" cy="5486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100" b="1">
                <a:solidFill>
                  <a:srgbClr val="EEF7FF"/>
                </a:solidFill>
                <a:latin typeface="Aptos"/>
              </a:defRPr>
            </a:pPr>
            <a:r>
              <a:t>Untrusted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77056"/>
            <a:ext cx="2816352" cy="8686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Merchant email hides a role override or encoded instruction.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62272" y="2423160"/>
            <a:ext cx="3246120" cy="265176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2584" y="2706624"/>
            <a:ext cx="274320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02 / ESCALATION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163824"/>
            <a:ext cx="2834640" cy="5486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100" b="1">
                <a:solidFill>
                  <a:srgbClr val="EEF7FF"/>
                </a:solidFill>
                <a:latin typeface="Aptos"/>
              </a:defRPr>
            </a:pPr>
            <a:r>
              <a:t>Tool manipulation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3877056"/>
            <a:ext cx="2816352" cy="8686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Agent is pushed toward refund, secret or outbound-message tool.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6175" y="2423160"/>
            <a:ext cx="3246120" cy="265176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6488" y="2706624"/>
            <a:ext cx="274320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03 / CONSEQUENCE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3163824"/>
            <a:ext cx="2834640" cy="5486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100" b="1">
                <a:solidFill>
                  <a:srgbClr val="EEF7FF"/>
                </a:solidFill>
                <a:latin typeface="Aptos"/>
              </a:defRPr>
            </a:pPr>
            <a:r>
              <a:t>Business harm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877056"/>
            <a:ext cx="2816352" cy="8686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Unauthorized financial action, leaked secrets, or interrupted workflow.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715000"/>
            <a:ext cx="10698480" cy="4114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39D9B0"/>
                </a:solidFill>
                <a:latin typeface="Aptos"/>
              </a:defRPr>
            </a:pPr>
            <a:r>
              <a:t>Product principle: External content supplies data, never authority.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Not a chatbot. A security layer around agent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Three bounded components plus independent authorization and EGO measurement.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v1.7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240280"/>
            <a:ext cx="6629400" cy="786384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404872"/>
            <a:ext cx="164592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1">
                <a:solidFill>
                  <a:srgbClr val="39D9B0"/>
                </a:solidFill>
                <a:latin typeface="Aptos"/>
              </a:defRPr>
            </a:pPr>
            <a:r>
              <a:t>INSPECT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2386584"/>
            <a:ext cx="452628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EEF7FF"/>
                </a:solidFill>
                <a:latin typeface="Aptos"/>
              </a:defRPr>
            </a:pPr>
            <a:r>
              <a:t>Normalize sources, inspect risky spans, assign provenance &amp; attack categories.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" y="3246120"/>
            <a:ext cx="6629400" cy="786384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410712"/>
            <a:ext cx="164592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1">
                <a:solidFill>
                  <a:srgbClr val="39D9B0"/>
                </a:solidFill>
                <a:latin typeface="Aptos"/>
              </a:defRPr>
            </a:pPr>
            <a:r>
              <a:t>ENFORCE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3392424"/>
            <a:ext cx="452628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EEF7FF"/>
                </a:solidFill>
                <a:latin typeface="Aptos"/>
              </a:defRPr>
            </a:pPr>
            <a:r>
              <a:t>Deterministic role + source-trust gate; privileged tools need separate approval.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" y="4251960"/>
            <a:ext cx="6629400" cy="786384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4416552"/>
            <a:ext cx="164592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700" b="1">
                <a:solidFill>
                  <a:srgbClr val="39D9B0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4398264"/>
            <a:ext cx="452628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EEF7FF"/>
                </a:solidFill>
                <a:latin typeface="Aptos"/>
              </a:defRPr>
            </a:pPr>
            <a:r>
              <a:t>Audit tool outcomes, triage incidents and replay reproducible security tests.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35824" y="2240280"/>
            <a:ext cx="3364992" cy="338328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18704" y="2423160"/>
            <a:ext cx="3044952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DEFENSE-IN-DEPTH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743200"/>
            <a:ext cx="3044952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85A9FF"/>
                </a:solidFill>
                <a:latin typeface="Aptos"/>
              </a:defRPr>
            </a:pPr>
            <a:r>
              <a:t>9 categories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337560"/>
            <a:ext cx="3044952" cy="219456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EEF7FF"/>
                </a:solidFill>
                <a:latin typeface="Aptos"/>
              </a:defRPr>
            </a:pPr>
            <a:r>
              <a:t>Optional hosted LLM + locally trained TF-IDF risk model + rule layer; authorization stays outside the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WORKING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Live attack laboratory and case comparison.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Independent tool gate protects user task even when classification misses.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v1.7 · F3–D1 · SYNTHETIC SANDBOX</a:t>
            </a:r>
          </a:p>
        </p:txBody>
      </p:sp>
      <p:pic>
        <p:nvPicPr>
          <p:cNvPr id="10" name="Picture 9" descr="02_before_after.png"/>
          <p:cNvPicPr>
            <a:picLocks noChangeAspect="1"/>
          </p:cNvPicPr>
          <p:nvPr/>
        </p:nvPicPr>
        <p:blipFill>
          <a:blip r:embed="rId2"/>
          <a:srcRect b="65778"/>
          <a:stretch>
            <a:fillRect/>
          </a:stretch>
        </p:blipFill>
        <p:spPr>
          <a:xfrm>
            <a:off x="566928" y="2231136"/>
            <a:ext cx="8458200" cy="38679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89720" y="2231136"/>
            <a:ext cx="2395728" cy="3867912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45168" y="2523744"/>
            <a:ext cx="201168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ROLE SPOOFING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8" y="3035808"/>
            <a:ext cx="2048256" cy="9509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FF8189"/>
                </a:solidFill>
                <a:latin typeface="Aptos"/>
              </a:defRPr>
            </a:pPr>
            <a:r>
              <a:t>Scripted control is illustrative, not a measured attacked LLM.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8" y="4206240"/>
            <a:ext cx="2048256" cy="1399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Protected agent completes the ticket and denies the external-origin refund.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Provenance → inspection → policy → tool authorization.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The classifier is advisory; the tool gateway is the actual safety boundary.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v1.7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048256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21408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USER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30552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trusted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441448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587752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2660904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CONTENT INTAKE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670048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email · Word · OCR · HTML ·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80944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94560" y="3127248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3200400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INSPECTION COMPONENT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209544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rules + structural signals + ML + optional LLM judge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3520440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94560" y="3666744"/>
            <a:ext cx="7863840" cy="457200"/>
          </a:xfrm>
          <a:prstGeom prst="roundRect">
            <a:avLst/>
          </a:prstGeom>
          <a:solidFill>
            <a:srgbClr val="162C43"/>
          </a:solidFill>
          <a:ln>
            <a:solidFill>
              <a:srgbClr val="39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3739896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39D9B0"/>
                </a:solidFill>
                <a:latin typeface="Aptos"/>
              </a:defRPr>
            </a:pPr>
            <a:r>
              <a:t>RISK DISPOSITION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749039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allow / sanitize / quarantine / escalate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059935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4206240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4279392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BUSINESS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288536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settlement read · ticket draft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4599431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4745736"/>
            <a:ext cx="7863840" cy="457200"/>
          </a:xfrm>
          <a:prstGeom prst="roundRect">
            <a:avLst/>
          </a:prstGeom>
          <a:solidFill>
            <a:srgbClr val="162C43"/>
          </a:solidFill>
          <a:ln>
            <a:solidFill>
              <a:srgbClr val="39D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4818888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39D9B0"/>
                </a:solidFill>
                <a:latin typeface="Aptos"/>
              </a:defRPr>
            </a:pPr>
            <a:r>
              <a:t>DETERMINISTIC TOOL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828031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role · source · independent approval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5138927"/>
            <a:ext cx="6400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39D9B0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94560" y="5285232"/>
            <a:ext cx="7863840" cy="457200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77440" y="5358384"/>
            <a:ext cx="329184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EEF7FF"/>
                </a:solidFill>
                <a:latin typeface="Aptos"/>
              </a:defRPr>
            </a:pPr>
            <a:r>
              <a:t>AUDIT + EGO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5367528"/>
            <a:ext cx="4297680" cy="21945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0">
                <a:solidFill>
                  <a:srgbClr val="9BB0C8"/>
                </a:solidFill>
                <a:latin typeface="Aptos"/>
              </a:defRPr>
            </a:pPr>
            <a:r>
              <a:t>trace · score · incident triage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OFFICIAL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Nine attack patterns implemented and unit-tested.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Official F3 requires ≥7 tested categories. Broad real-world coverage remains unverified.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v1.7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1284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44144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3230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Instruction Override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1284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8304" y="244144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43230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Role Change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21284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244144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43230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Secret Extraction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6440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49300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483863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Tool Abuse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326440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8304" y="349300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483863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Credential Theft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326440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8784" y="349300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3483863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Context Poisoning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31596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454456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3542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Multi-Step Jailbreaks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31596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18304" y="454456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53542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Encoded Instructions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4315968"/>
            <a:ext cx="3493008" cy="8412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58784" y="4544568"/>
            <a:ext cx="3657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4535424"/>
            <a:ext cx="2624328" cy="4572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EEF7FF"/>
                </a:solidFill>
                <a:latin typeface="Aptos"/>
              </a:defRPr>
            </a:pPr>
            <a:r>
              <a:t>Indirect Prompt Injection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" y="5724144"/>
            <a:ext cx="10881360" cy="3200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Evidence: labeled fixtures · regression tests · per-category synthetic holdout · redacted spans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MEASURED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Safety evaluation: results depend on the test distribution.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A known-case retest is not independent evidence; the fresh 40-case result remains weak.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v1.7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77440"/>
            <a:ext cx="3611880" cy="26700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42616"/>
            <a:ext cx="3273552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9BB0C8"/>
                </a:solidFill>
                <a:latin typeface="Aptos"/>
              </a:defRPr>
            </a:pPr>
            <a:r>
              <a:t>PRE-FIX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18104"/>
            <a:ext cx="3255264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3700" b="1">
                <a:solidFill>
                  <a:srgbClr val="FF8189"/>
                </a:solidFill>
                <a:latin typeface="Aptos"/>
              </a:defRPr>
            </a:pPr>
            <a:r>
              <a:t>58.3%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58768"/>
            <a:ext cx="3255264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EEF7FF"/>
                </a:solidFill>
                <a:latin typeface="Aptos"/>
              </a:defRPr>
            </a:pPr>
            <a:r>
              <a:t>14 / 24 attacks detected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80"/>
            <a:ext cx="3200400" cy="5029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42 known cases; 1 benign FP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377440"/>
            <a:ext cx="3611880" cy="26700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42616"/>
            <a:ext cx="3273552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9BB0C8"/>
                </a:solidFill>
                <a:latin typeface="Aptos"/>
              </a:defRPr>
            </a:pPr>
            <a:r>
              <a:t>FEEDBACK RETEST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18104"/>
            <a:ext cx="3255264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3700" b="1">
                <a:solidFill>
                  <a:srgbClr val="39D9B0"/>
                </a:solidFill>
                <a:latin typeface="Aptos"/>
              </a:defRPr>
            </a:pPr>
            <a:r>
              <a:t>100.0%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858768"/>
            <a:ext cx="3255264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EEF7FF"/>
                </a:solidFill>
                <a:latin typeface="Aptos"/>
              </a:defRPr>
            </a:pPr>
            <a:r>
              <a:t>30 / 30 attacks detected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297680"/>
            <a:ext cx="3200400" cy="5029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60 known cases, tuned to feedback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2377440"/>
            <a:ext cx="3611880" cy="267004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2642616"/>
            <a:ext cx="3273552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9BB0C8"/>
                </a:solidFill>
                <a:latin typeface="Aptos"/>
              </a:defRPr>
            </a:pPr>
            <a:r>
              <a:t>KNOWN 40-CASE 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3118104"/>
            <a:ext cx="3255264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3700" b="1">
                <a:solidFill>
                  <a:srgbClr val="F1C174"/>
                </a:solidFill>
                <a:latin typeface="Aptos"/>
              </a:defRPr>
            </a:pPr>
            <a:r>
              <a:t>50.0%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858768"/>
            <a:ext cx="3255264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EEF7FF"/>
                </a:solidFill>
                <a:latin typeface="Aptos"/>
              </a:defRPr>
            </a:pPr>
            <a:r>
              <a:t>10 / 20 attacks detected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4297680"/>
            <a:ext cx="3200400" cy="5029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40 previously reviewed cases; 2 benign FP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" y="5294376"/>
            <a:ext cx="10954512" cy="694944"/>
          </a:xfrm>
          <a:prstGeom prst="roundRect">
            <a:avLst/>
          </a:prstGeom>
          <a:solidFill>
            <a:srgbClr val="162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468112"/>
            <a:ext cx="10570464" cy="42976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F1C174"/>
                </a:solidFill>
                <a:latin typeface="Aptos"/>
              </a:defRPr>
            </a:pPr>
            <a:r>
              <a:t>F3–D1. Known 40-case challenge misses 10/20 attacks; v1.7 judge feedback set is 28/30 (NOT blind). No live hosted score.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QUALITY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EGO measures safety AND usefulness.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Security that breaks every legitimate workflow is not a viable enterprise product.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v1.7 · F3–D1 · SYNTHETIC SANDBOX</a:t>
            </a:r>
          </a:p>
        </p:txBody>
      </p:sp>
      <p:pic>
        <p:nvPicPr>
          <p:cNvPr id="10" name="Picture 9" descr="03_evaluation.png"/>
          <p:cNvPicPr>
            <a:picLocks noChangeAspect="1"/>
          </p:cNvPicPr>
          <p:nvPr/>
        </p:nvPicPr>
        <p:blipFill>
          <a:blip r:embed="rId2"/>
          <a:srcRect b="40269"/>
          <a:stretch>
            <a:fillRect/>
          </a:stretch>
        </p:blipFill>
        <p:spPr>
          <a:xfrm>
            <a:off x="585216" y="2148840"/>
            <a:ext cx="7406640" cy="405079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257031" y="2395728"/>
            <a:ext cx="3246120" cy="97840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2523744"/>
            <a:ext cx="2816352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9056" y="2843784"/>
            <a:ext cx="2816352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Attack recall, precision, per-class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57031" y="3657600"/>
            <a:ext cx="3246120" cy="97840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49056" y="3785615"/>
            <a:ext cx="2816352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6" y="4105656"/>
            <a:ext cx="2816352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No unauthorized mock tool execution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57031" y="4910328"/>
            <a:ext cx="3246120" cy="97840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5038344"/>
            <a:ext cx="2816352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OBSERVABILITY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5358384"/>
            <a:ext cx="2816352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9BB0C8"/>
                </a:solidFill>
                <a:latin typeface="Aptos"/>
              </a:defRPr>
            </a:pPr>
            <a:r>
              <a:t>Audit chain, latency and failure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PRODUCT +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Designed like an enterprise AI platform, not a toy.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A synthetic fintech operations scenario connects risk to real business decision-making.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v1.7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76856"/>
            <a:ext cx="3182112" cy="271576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2743200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CONTROL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279806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EEF7FF"/>
                </a:solidFill>
                <a:latin typeface="Aptos"/>
              </a:defRPr>
            </a:pPr>
            <a:r>
              <a:t>Platform governance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9896"/>
            <a:ext cx="2807208" cy="83210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Central AI policy and model-independent safety checks.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4568" y="2276856"/>
            <a:ext cx="3182112" cy="271576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2551176"/>
            <a:ext cx="2743200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AGENT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971800"/>
            <a:ext cx="279806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EEF7FF"/>
                </a:solidFill>
                <a:latin typeface="Aptos"/>
              </a:defRPr>
            </a:pPr>
            <a: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3739896"/>
            <a:ext cx="2807208" cy="83210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Inspection, task execution, incident analysis and replay.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276856"/>
            <a:ext cx="3182112" cy="2715768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2551176"/>
            <a:ext cx="2743200" cy="24688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100" b="1">
                <a:solidFill>
                  <a:srgbClr val="39D9B0"/>
                </a:solidFill>
                <a:latin typeface="Aptos"/>
              </a:defRPr>
            </a:pPr>
            <a:r>
              <a:t>PRODUCT KPIs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971800"/>
            <a:ext cx="2798064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EEF7FF"/>
                </a:solidFill>
                <a:latin typeface="Aptos"/>
              </a:defRPr>
            </a:pPr>
            <a:r>
              <a:t>Measurable ROI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739896"/>
            <a:ext cx="2807208" cy="83210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0">
                <a:solidFill>
                  <a:srgbClr val="9BB0C8"/>
                </a:solidFill>
                <a:latin typeface="Aptos"/>
              </a:defRPr>
            </a:pPr>
            <a:r>
              <a:t>Safety, false positives, permitted-workflow success, costs.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5596128"/>
            <a:ext cx="10607040" cy="43891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600" b="0">
                <a:solidFill>
                  <a:srgbClr val="F1C174"/>
                </a:solidFill>
                <a:latin typeface="Aptos"/>
              </a:defRPr>
            </a:pPr>
            <a:r>
              <a:t>Financial-impact dashboard uses editable hypothetical assumptions; no real customer savings claimed.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84048"/>
            <a:ext cx="73152" cy="274320"/>
          </a:xfrm>
          <a:prstGeom prst="rect">
            <a:avLst/>
          </a:prstGeom>
          <a:solidFill>
            <a:srgbClr val="39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93776" y="365760"/>
            <a:ext cx="64008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000" b="1">
                <a:solidFill>
                  <a:srgbClr val="39D9B0"/>
                </a:solidFill>
                <a:latin typeface="Aptos"/>
              </a:defRPr>
            </a:pPr>
            <a:r>
              <a:t>TRUSTBOUNDARY /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93192"/>
            <a:ext cx="114300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1000" b="1">
                <a:solidFill>
                  <a:srgbClr val="9BB0C8"/>
                </a:solidFill>
                <a:latin typeface="Aptos"/>
              </a:defRPr>
            </a:pPr>
            <a: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14400"/>
            <a:ext cx="11064240" cy="6400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900" b="1">
                <a:solidFill>
                  <a:srgbClr val="EEF7FF"/>
                </a:solidFill>
                <a:latin typeface="Aptos"/>
              </a:defRPr>
            </a:pPr>
            <a:r>
              <a:t>Runnable, measurable, and clear about limitations.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627632"/>
            <a:ext cx="10881360" cy="53035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300" b="0">
                <a:solidFill>
                  <a:srgbClr val="9BB0C8"/>
                </a:solidFill>
                <a:latin typeface="Aptos"/>
              </a:defRPr>
            </a:pPr>
            <a:r>
              <a:t>Working local prototype + source tests + case-level evidence + pitch materials.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55680" cy="7315"/>
          </a:xfrm>
          <a:prstGeom prst="rect">
            <a:avLst/>
          </a:prstGeom>
          <a:solidFill>
            <a:srgbClr val="30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6583680"/>
            <a:ext cx="73152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ET × ACCENTURE AI HACKATHON 2026 · AGENTIC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583680"/>
            <a:ext cx="3200400" cy="1828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r">
              <a:spcAft>
                <a:spcPts val="100"/>
              </a:spcAft>
              <a:defRPr sz="800" b="0">
                <a:solidFill>
                  <a:srgbClr val="9BB0C8"/>
                </a:solidFill>
                <a:latin typeface="Aptos"/>
              </a:defRPr>
            </a:pPr>
            <a:r>
              <a:t>v1.7 · F3–D1 · SYNTHETIC SANDBOX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" y="2212848"/>
            <a:ext cx="10469880" cy="9052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41448"/>
            <a:ext cx="237744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423160"/>
            <a:ext cx="7635240" cy="4937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Run the protected fintech workflow, evaluate, inspect traces.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" y="3328415"/>
            <a:ext cx="10469880" cy="9052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557015"/>
            <a:ext cx="237744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3538727"/>
            <a:ext cx="7635240" cy="4937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Public external benchmark pending; live OpenAI unverified; new 40-case recall 50.0%.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" y="4443983"/>
            <a:ext cx="10469880" cy="905256"/>
          </a:xfrm>
          <a:prstGeom prst="roundRect">
            <a:avLst/>
          </a:prstGeom>
          <a:solidFill>
            <a:srgbClr val="11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672583"/>
            <a:ext cx="237744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9D9B0"/>
                </a:solidFill>
                <a:latin typeface="Aptos"/>
              </a:defRPr>
            </a:pPr>
            <a:r>
              <a:t>FOR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4408" y="4654296"/>
            <a:ext cx="7635240" cy="49377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EEF7FF"/>
                </a:solidFill>
                <a:latin typeface="Aptos"/>
              </a:defRPr>
            </a:pPr>
            <a:r>
              <a:t>Multitenant auth, audit hardening, SIEM, OCR, rate limits, independent security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568696"/>
            <a:ext cx="10835640" cy="34747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9BB0C8"/>
                </a:solidFill>
                <a:latin typeface="Aptos"/>
              </a:defRPr>
            </a:pPr>
            <a:r>
              <a:t>Repository: github.com/saidhinu/TrustBoundary-AI-Agentic-Security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824728"/>
            <a:ext cx="9144000" cy="41148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spcAft>
                <a:spcPts val="100"/>
              </a:spcAft>
              <a:defRPr sz="2200" b="1">
                <a:solidFill>
                  <a:srgbClr val="39D9B0"/>
                </a:solidFill>
                <a:latin typeface="Aptos"/>
              </a:defRPr>
            </a:pPr>
            <a:r>
              <a:t>TrustBoundary: provenance before permission.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